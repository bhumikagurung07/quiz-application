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</p:sldIdLst>
  <p:sldSz cx="18288000" cy="10287000"/>
  <p:notesSz cx="6858000" cy="9144000"/>
  <p:embeddedFontLst>
    <p:embeddedFont>
      <p:font typeface="Jua" panose="020B0604020202020204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D287-31D3-4A23-22C6-613F0CA7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34B9C7-30C0-F7D4-8BAC-DA58C422A09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A8B3F5-24B0-A4E7-8E20-A2A3C55A6E7E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8EA428B-986D-87E7-5D4D-CEDB706EA6E7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E06B6C3-594B-C107-95CC-E5EB6EA4CDC2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7A47F7A-69C3-A510-9C3E-7ACFD74DD356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C572201-23A7-C786-65F8-56C1152F9537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0EEF3A-ED51-DDC8-5520-DBA91063A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16409"/>
              </p:ext>
            </p:extLst>
          </p:nvPr>
        </p:nvGraphicFramePr>
        <p:xfrm>
          <a:off x="1470024" y="2883663"/>
          <a:ext cx="13312776" cy="6400232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327513">
                  <a:extLst>
                    <a:ext uri="{9D8B030D-6E8A-4147-A177-3AD203B41FA5}">
                      <a16:colId xmlns:a16="http://schemas.microsoft.com/office/drawing/2014/main" val="1992698919"/>
                    </a:ext>
                  </a:extLst>
                </a:gridCol>
                <a:gridCol w="3327513">
                  <a:extLst>
                    <a:ext uri="{9D8B030D-6E8A-4147-A177-3AD203B41FA5}">
                      <a16:colId xmlns:a16="http://schemas.microsoft.com/office/drawing/2014/main" val="3667050002"/>
                    </a:ext>
                  </a:extLst>
                </a:gridCol>
                <a:gridCol w="3328875">
                  <a:extLst>
                    <a:ext uri="{9D8B030D-6E8A-4147-A177-3AD203B41FA5}">
                      <a16:colId xmlns:a16="http://schemas.microsoft.com/office/drawing/2014/main" val="1077883534"/>
                    </a:ext>
                  </a:extLst>
                </a:gridCol>
                <a:gridCol w="3328875">
                  <a:extLst>
                    <a:ext uri="{9D8B030D-6E8A-4147-A177-3AD203B41FA5}">
                      <a16:colId xmlns:a16="http://schemas.microsoft.com/office/drawing/2014/main" val="1748738017"/>
                    </a:ext>
                  </a:extLst>
                </a:gridCol>
              </a:tblGrid>
              <a:tr h="147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FIELD_NAMES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Data_Type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CONSTRAIN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DESCRIPTION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6008469"/>
                  </a:ext>
                </a:extLst>
              </a:tr>
              <a:tr h="20038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Id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Integer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Primary Key,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Auto Increment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Id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1407521"/>
                  </a:ext>
                </a:extLst>
              </a:tr>
              <a:tr h="14752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Username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Text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Not null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Username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0616659"/>
                  </a:ext>
                </a:extLst>
              </a:tr>
              <a:tr h="14202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Password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Integer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Unique Key     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Password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77878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D4203C-5CDF-5EA0-0E0A-6A0EB144C20C}"/>
              </a:ext>
            </a:extLst>
          </p:cNvPr>
          <p:cNvSpPr txBox="1"/>
          <p:nvPr/>
        </p:nvSpPr>
        <p:spPr>
          <a:xfrm>
            <a:off x="1751168" y="1310488"/>
            <a:ext cx="3659031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400" b="1" i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Admin_Mst</a:t>
            </a:r>
            <a:r>
              <a:rPr lang="en-US" sz="44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:-</a:t>
            </a:r>
            <a:endParaRPr lang="en-IN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9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CC06E-EBD1-09DD-EEF0-E5A4E24B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E65742-16BC-9CE2-B461-25107F7DB62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6AADEF7-4A23-7CCD-C822-E8648783AF57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BA50798-755C-FB02-DFE7-9E53F5968F68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18AC86-FABA-19F3-76F7-1FEB4304C42C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96C6AB4-9730-56AE-4E23-F2C905E0F6B4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D826F11-445A-6B10-6B12-31961EF1EBF7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35A7C-8A73-9F9A-5843-92FAAE7F54FC}"/>
              </a:ext>
            </a:extLst>
          </p:cNvPr>
          <p:cNvSpPr txBox="1"/>
          <p:nvPr/>
        </p:nvSpPr>
        <p:spPr>
          <a:xfrm>
            <a:off x="1751168" y="1310488"/>
            <a:ext cx="3998551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400" b="1" i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Teachers_info</a:t>
            </a:r>
            <a:r>
              <a:rPr lang="en-US" sz="44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:-</a:t>
            </a:r>
            <a:endParaRPr lang="en-IN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0BF017-6AEE-C1A0-B35A-B137247B5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878904"/>
              </p:ext>
            </p:extLst>
          </p:nvPr>
        </p:nvGraphicFramePr>
        <p:xfrm>
          <a:off x="1470022" y="2645536"/>
          <a:ext cx="14379578" cy="7132426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594159">
                  <a:extLst>
                    <a:ext uri="{9D8B030D-6E8A-4147-A177-3AD203B41FA5}">
                      <a16:colId xmlns:a16="http://schemas.microsoft.com/office/drawing/2014/main" val="2141462968"/>
                    </a:ext>
                  </a:extLst>
                </a:gridCol>
                <a:gridCol w="3594159">
                  <a:extLst>
                    <a:ext uri="{9D8B030D-6E8A-4147-A177-3AD203B41FA5}">
                      <a16:colId xmlns:a16="http://schemas.microsoft.com/office/drawing/2014/main" val="3086457363"/>
                    </a:ext>
                  </a:extLst>
                </a:gridCol>
                <a:gridCol w="3595630">
                  <a:extLst>
                    <a:ext uri="{9D8B030D-6E8A-4147-A177-3AD203B41FA5}">
                      <a16:colId xmlns:a16="http://schemas.microsoft.com/office/drawing/2014/main" val="2519869216"/>
                    </a:ext>
                  </a:extLst>
                </a:gridCol>
                <a:gridCol w="3595630">
                  <a:extLst>
                    <a:ext uri="{9D8B030D-6E8A-4147-A177-3AD203B41FA5}">
                      <a16:colId xmlns:a16="http://schemas.microsoft.com/office/drawing/2014/main" val="2901567131"/>
                    </a:ext>
                  </a:extLst>
                </a:gridCol>
              </a:tblGrid>
              <a:tr h="12646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FIELD_NAMES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Data_Type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CONSTRAIN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DESCRIPTION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479474"/>
                  </a:ext>
                </a:extLst>
              </a:tr>
              <a:tr h="21209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Tech_Id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Integer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Primary Key,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Auto Increment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Answer Id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323087"/>
                  </a:ext>
                </a:extLst>
              </a:tr>
              <a:tr h="12646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 err="1">
                          <a:effectLst/>
                        </a:rPr>
                        <a:t>Tech_Name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Text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Not null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Teacher Name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0307490"/>
                  </a:ext>
                </a:extLst>
              </a:tr>
              <a:tr h="12174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Username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Integer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Unique Key     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Username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9100431"/>
                  </a:ext>
                </a:extLst>
              </a:tr>
              <a:tr h="12646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Password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Text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Unique Key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password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2003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5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21D8E-6CAC-B8E5-D46E-5CCC625E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D38C3C-285E-A2D2-6833-62F8A7774BF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1B3DB6-0D24-42D1-9B5E-12F2F9FF18FF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2C14C66-1BCD-8244-DDE5-EA2D71E0B5F8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B852F28-998B-7FEC-7BC7-62A3764A1A11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2DF4DA1-DAF4-A1BE-EA0F-AF7E46148A28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053EEBB-CB6D-28BC-ED4E-4DA4FFF5450A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EEBC94-FD22-A97E-D8A8-4F149F6A6D6A}"/>
              </a:ext>
            </a:extLst>
          </p:cNvPr>
          <p:cNvSpPr txBox="1"/>
          <p:nvPr/>
        </p:nvSpPr>
        <p:spPr>
          <a:xfrm>
            <a:off x="1751168" y="1310488"/>
            <a:ext cx="3659031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Department:-</a:t>
            </a:r>
            <a:endParaRPr lang="en-IN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3ADA57-1795-3D23-7843-BF87DD886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913365"/>
              </p:ext>
            </p:extLst>
          </p:nvPr>
        </p:nvGraphicFramePr>
        <p:xfrm>
          <a:off x="1437004" y="2664619"/>
          <a:ext cx="12736196" cy="631189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183404">
                  <a:extLst>
                    <a:ext uri="{9D8B030D-6E8A-4147-A177-3AD203B41FA5}">
                      <a16:colId xmlns:a16="http://schemas.microsoft.com/office/drawing/2014/main" val="3661381036"/>
                    </a:ext>
                  </a:extLst>
                </a:gridCol>
                <a:gridCol w="3183404">
                  <a:extLst>
                    <a:ext uri="{9D8B030D-6E8A-4147-A177-3AD203B41FA5}">
                      <a16:colId xmlns:a16="http://schemas.microsoft.com/office/drawing/2014/main" val="2994815984"/>
                    </a:ext>
                  </a:extLst>
                </a:gridCol>
                <a:gridCol w="3184694">
                  <a:extLst>
                    <a:ext uri="{9D8B030D-6E8A-4147-A177-3AD203B41FA5}">
                      <a16:colId xmlns:a16="http://schemas.microsoft.com/office/drawing/2014/main" val="2624084978"/>
                    </a:ext>
                  </a:extLst>
                </a:gridCol>
                <a:gridCol w="3184694">
                  <a:extLst>
                    <a:ext uri="{9D8B030D-6E8A-4147-A177-3AD203B41FA5}">
                      <a16:colId xmlns:a16="http://schemas.microsoft.com/office/drawing/2014/main" val="3539949770"/>
                    </a:ext>
                  </a:extLst>
                </a:gridCol>
              </a:tblGrid>
              <a:tr h="15666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FIELD_NAMES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Data_Type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CONSTRAIN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DESCRIPTION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0255702"/>
                  </a:ext>
                </a:extLst>
              </a:tr>
              <a:tr h="15666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 err="1">
                          <a:effectLst/>
                        </a:rPr>
                        <a:t>Dept_Id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Integer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Primary Key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Course Id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1282561"/>
                  </a:ext>
                </a:extLst>
              </a:tr>
              <a:tr h="16118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 err="1">
                          <a:effectLst/>
                        </a:rPr>
                        <a:t>Dept_Name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Text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Not null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Course Name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2657839"/>
                  </a:ext>
                </a:extLst>
              </a:tr>
              <a:tr h="15666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Image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LONG TEXT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>
                          <a:effectLst/>
                        </a:rPr>
                        <a:t> </a:t>
                      </a:r>
                      <a:endParaRPr lang="en-IN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4000" kern="100" dirty="0">
                          <a:effectLst/>
                        </a:rPr>
                        <a:t>Image </a:t>
                      </a:r>
                      <a:endParaRPr lang="en-IN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1606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520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FFFB-0152-C306-D1E3-38CA7D41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B3957A-A3D7-10C9-F7BF-6F32F7EAF48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BE19FD-C1A2-C475-D7B3-E1D26FB393E4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64F0761-AF20-C2C1-8B6E-0EA7925311C3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FF9392D-8FD1-EB5F-A1EC-6903A0A284AC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57781E7-1F23-5CDC-9E6C-05CFF90F1B0A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6672716B-2427-E5A9-91C9-334E43647CA0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CB56C5-5B69-F502-B397-98D0E6AA1FA3}"/>
              </a:ext>
            </a:extLst>
          </p:cNvPr>
          <p:cNvSpPr txBox="1"/>
          <p:nvPr/>
        </p:nvSpPr>
        <p:spPr>
          <a:xfrm>
            <a:off x="1751168" y="1310488"/>
            <a:ext cx="3659031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Subject:-</a:t>
            </a:r>
            <a:endParaRPr lang="en-IN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A55C1A-533D-4D90-26F7-529994E2B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83944"/>
              </p:ext>
            </p:extLst>
          </p:nvPr>
        </p:nvGraphicFramePr>
        <p:xfrm>
          <a:off x="990600" y="2958578"/>
          <a:ext cx="15239998" cy="626919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807568">
                  <a:extLst>
                    <a:ext uri="{9D8B030D-6E8A-4147-A177-3AD203B41FA5}">
                      <a16:colId xmlns:a16="http://schemas.microsoft.com/office/drawing/2014/main" val="2737166126"/>
                    </a:ext>
                  </a:extLst>
                </a:gridCol>
                <a:gridCol w="3810810">
                  <a:extLst>
                    <a:ext uri="{9D8B030D-6E8A-4147-A177-3AD203B41FA5}">
                      <a16:colId xmlns:a16="http://schemas.microsoft.com/office/drawing/2014/main" val="1424029912"/>
                    </a:ext>
                  </a:extLst>
                </a:gridCol>
                <a:gridCol w="3810810">
                  <a:extLst>
                    <a:ext uri="{9D8B030D-6E8A-4147-A177-3AD203B41FA5}">
                      <a16:colId xmlns:a16="http://schemas.microsoft.com/office/drawing/2014/main" val="646707304"/>
                    </a:ext>
                  </a:extLst>
                </a:gridCol>
                <a:gridCol w="3810810">
                  <a:extLst>
                    <a:ext uri="{9D8B030D-6E8A-4147-A177-3AD203B41FA5}">
                      <a16:colId xmlns:a16="http://schemas.microsoft.com/office/drawing/2014/main" val="2067313519"/>
                    </a:ext>
                  </a:extLst>
                </a:gridCol>
              </a:tblGrid>
              <a:tr h="1039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FIELD_NAMES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Data_Type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CONSTRAIN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DESCRIPTION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1748094"/>
                  </a:ext>
                </a:extLst>
              </a:tr>
              <a:tr h="10693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Sub_Id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Primary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Language 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3503802"/>
                  </a:ext>
                </a:extLst>
              </a:tr>
              <a:tr h="1039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Sub_Name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Not null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Language Name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2522266"/>
                  </a:ext>
                </a:extLst>
              </a:tr>
              <a:tr h="1039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Dept_Id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Foreign key 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Course 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6034570"/>
                  </a:ext>
                </a:extLst>
              </a:tr>
              <a:tr h="1039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Image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LONG 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 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Image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4272202"/>
                  </a:ext>
                </a:extLst>
              </a:tr>
              <a:tr h="1039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Tech_Id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Foreign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Teacher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6525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046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48C1-C0D8-F9A8-37E7-E7438605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FAC78E-906D-B1A3-9F03-AE3D2E814EAA}"/>
              </a:ext>
            </a:extLst>
          </p:cNvPr>
          <p:cNvSpPr/>
          <p:nvPr/>
        </p:nvSpPr>
        <p:spPr>
          <a:xfrm>
            <a:off x="-67264" y="-118332"/>
            <a:ext cx="18384022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0D70EB2-49EA-D05F-302D-0A8B76A1EA32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4AA129A-E6B3-5D67-BBB6-7C949E830311}"/>
              </a:ext>
            </a:extLst>
          </p:cNvPr>
          <p:cNvGrpSpPr/>
          <p:nvPr/>
        </p:nvGrpSpPr>
        <p:grpSpPr>
          <a:xfrm>
            <a:off x="7088696" y="0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5997469-5C4B-50D4-46F8-0AD8C737F93C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EA0B764-E6DF-DC99-6F56-7AE3227E47B1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594325C-A349-C430-808D-E20DB22DFF27}"/>
              </a:ext>
            </a:extLst>
          </p:cNvPr>
          <p:cNvSpPr txBox="1"/>
          <p:nvPr/>
        </p:nvSpPr>
        <p:spPr>
          <a:xfrm>
            <a:off x="6036774" y="190365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 dirty="0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</a:t>
            </a:r>
            <a:r>
              <a:rPr lang="en-US" sz="8993" dirty="0" err="1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Dicitionary</a:t>
            </a:r>
            <a:r>
              <a:rPr lang="en-US" sz="8993" dirty="0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80869-3B74-1DA2-7657-716B37AF8F2B}"/>
              </a:ext>
            </a:extLst>
          </p:cNvPr>
          <p:cNvSpPr txBox="1"/>
          <p:nvPr/>
        </p:nvSpPr>
        <p:spPr>
          <a:xfrm>
            <a:off x="1751168" y="1310488"/>
            <a:ext cx="3659031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i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Student_info</a:t>
            </a:r>
            <a:r>
              <a:rPr lang="en-IN" sz="36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:-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DB4EDB-5891-60A5-9197-71934F909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39958"/>
              </p:ext>
            </p:extLst>
          </p:nvPr>
        </p:nvGraphicFramePr>
        <p:xfrm>
          <a:off x="2286000" y="1987390"/>
          <a:ext cx="13373100" cy="806720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343275">
                  <a:extLst>
                    <a:ext uri="{9D8B030D-6E8A-4147-A177-3AD203B41FA5}">
                      <a16:colId xmlns:a16="http://schemas.microsoft.com/office/drawing/2014/main" val="1081103692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649873151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362162298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908086320"/>
                    </a:ext>
                  </a:extLst>
                </a:gridCol>
              </a:tblGrid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FIELD_NAMES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Data_Type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CONSTRAIN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DESCRIPTION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9956839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Primary Key, Auto Increment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Student id 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466911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Primary Key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5846502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Username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Username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4929094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password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Text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password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2225224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Stu_name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Student name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4605992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Phone_no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 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Phone Number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3026819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Dob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Date Of Birth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6245459"/>
                  </a:ext>
                </a:extLst>
              </a:tr>
              <a:tr h="8648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Dept_id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Foreign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Department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134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46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97A7E-422C-AC37-2EAE-B4096B97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E99B99-2A2B-ECB7-F5D5-612AF12B2A7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r>
              <a:rPr lang="en-IN" dirty="0"/>
              <a:t>m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B279F80-A28B-EE78-CF40-1CB86BAF3422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1D37D73-620F-3968-8681-F2EAAE5ACDB4}"/>
              </a:ext>
            </a:extLst>
          </p:cNvPr>
          <p:cNvGrpSpPr/>
          <p:nvPr/>
        </p:nvGrpSpPr>
        <p:grpSpPr>
          <a:xfrm>
            <a:off x="7067296" y="318675"/>
            <a:ext cx="11162748" cy="1713549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49F86B2-277F-1B4F-1653-B6AC405555D4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9D9BC25-4FA0-9AE9-9FDF-032C4F279FFD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0860C34B-205F-8BEA-B694-B4007F2F1658}"/>
              </a:ext>
            </a:extLst>
          </p:cNvPr>
          <p:cNvSpPr txBox="1"/>
          <p:nvPr/>
        </p:nvSpPr>
        <p:spPr>
          <a:xfrm>
            <a:off x="6176939" y="391717"/>
            <a:ext cx="13013759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 dirty="0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</a:t>
            </a:r>
            <a:r>
              <a:rPr lang="en-US" sz="8993" dirty="0" err="1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Dicitionary</a:t>
            </a:r>
            <a:r>
              <a:rPr lang="en-US" sz="8993" dirty="0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35B61-949C-A86B-A503-999EA8710F9C}"/>
              </a:ext>
            </a:extLst>
          </p:cNvPr>
          <p:cNvSpPr txBox="1"/>
          <p:nvPr/>
        </p:nvSpPr>
        <p:spPr>
          <a:xfrm>
            <a:off x="1751168" y="1310488"/>
            <a:ext cx="3659031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Question:-</a:t>
            </a:r>
            <a:endParaRPr lang="en-IN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BCB4EB-27B4-D825-26F1-91E2F5B27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178874"/>
              </p:ext>
            </p:extLst>
          </p:nvPr>
        </p:nvGraphicFramePr>
        <p:xfrm>
          <a:off x="2436143" y="2191988"/>
          <a:ext cx="13415714" cy="789571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351897">
                  <a:extLst>
                    <a:ext uri="{9D8B030D-6E8A-4147-A177-3AD203B41FA5}">
                      <a16:colId xmlns:a16="http://schemas.microsoft.com/office/drawing/2014/main" val="3415696664"/>
                    </a:ext>
                  </a:extLst>
                </a:gridCol>
                <a:gridCol w="3351897">
                  <a:extLst>
                    <a:ext uri="{9D8B030D-6E8A-4147-A177-3AD203B41FA5}">
                      <a16:colId xmlns:a16="http://schemas.microsoft.com/office/drawing/2014/main" val="1189132611"/>
                    </a:ext>
                  </a:extLst>
                </a:gridCol>
                <a:gridCol w="3355960">
                  <a:extLst>
                    <a:ext uri="{9D8B030D-6E8A-4147-A177-3AD203B41FA5}">
                      <a16:colId xmlns:a16="http://schemas.microsoft.com/office/drawing/2014/main" val="34865826"/>
                    </a:ext>
                  </a:extLst>
                </a:gridCol>
                <a:gridCol w="3355960">
                  <a:extLst>
                    <a:ext uri="{9D8B030D-6E8A-4147-A177-3AD203B41FA5}">
                      <a16:colId xmlns:a16="http://schemas.microsoft.com/office/drawing/2014/main" val="2967418277"/>
                    </a:ext>
                  </a:extLst>
                </a:gridCol>
              </a:tblGrid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FIELD_NAMES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Data_Type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CONSTRAIN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DESCRIPTION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8253766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Q_Id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Primary Key, Auto Increment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Number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6593436"/>
                  </a:ext>
                </a:extLst>
              </a:tr>
              <a:tr h="7712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Questions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Questions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8436732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Option_A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A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6055951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Option_B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B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2423717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Option_C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5252082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Option_D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392289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Corr_Ans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Text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Not null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Correct Answer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2245581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Quiz_id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kern="100" dirty="0">
                          <a:effectLst/>
                        </a:rPr>
                        <a:t>Foreign key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Quiz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3485657"/>
                  </a:ext>
                </a:extLst>
              </a:tr>
              <a:tr h="7470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sub_Id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Foreign key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Subcourse</a:t>
                      </a:r>
                      <a:r>
                        <a:rPr lang="en-IN" sz="3600" kern="100" dirty="0">
                          <a:effectLst/>
                        </a:rPr>
                        <a:t>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5794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82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7B072-EFE7-5F2B-FE5C-59F5DFAD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14FD4E-929E-A1A6-80A5-A5D553984D9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23CC026-B964-6233-5C77-288D7072C7EB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44E65CB-7D00-9B09-CC35-113C98EF838A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AEB8C1B-E99C-F64F-93B4-F69AA2B4473D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83A71A5-B766-8216-2DED-03265A7B0754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24B444F3-63EF-3E10-2599-0EE3B2443ED0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A878D5-CCA7-9ED5-760F-40C9C9CBEA09}"/>
              </a:ext>
            </a:extLst>
          </p:cNvPr>
          <p:cNvSpPr txBox="1"/>
          <p:nvPr/>
        </p:nvSpPr>
        <p:spPr>
          <a:xfrm>
            <a:off x="1751168" y="1310488"/>
            <a:ext cx="3659031" cy="65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600" b="1" i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Answer_info</a:t>
            </a:r>
            <a:r>
              <a:rPr lang="en-IN" sz="36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:-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1C4CB34-667C-F5C6-1120-923489AD8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992654"/>
              </p:ext>
            </p:extLst>
          </p:nvPr>
        </p:nvGraphicFramePr>
        <p:xfrm>
          <a:off x="1524000" y="2578816"/>
          <a:ext cx="13279756" cy="734312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317928">
                  <a:extLst>
                    <a:ext uri="{9D8B030D-6E8A-4147-A177-3AD203B41FA5}">
                      <a16:colId xmlns:a16="http://schemas.microsoft.com/office/drawing/2014/main" val="274187599"/>
                    </a:ext>
                  </a:extLst>
                </a:gridCol>
                <a:gridCol w="3317928">
                  <a:extLst>
                    <a:ext uri="{9D8B030D-6E8A-4147-A177-3AD203B41FA5}">
                      <a16:colId xmlns:a16="http://schemas.microsoft.com/office/drawing/2014/main" val="1492393095"/>
                    </a:ext>
                  </a:extLst>
                </a:gridCol>
                <a:gridCol w="3321950">
                  <a:extLst>
                    <a:ext uri="{9D8B030D-6E8A-4147-A177-3AD203B41FA5}">
                      <a16:colId xmlns:a16="http://schemas.microsoft.com/office/drawing/2014/main" val="392550215"/>
                    </a:ext>
                  </a:extLst>
                </a:gridCol>
                <a:gridCol w="3321950">
                  <a:extLst>
                    <a:ext uri="{9D8B030D-6E8A-4147-A177-3AD203B41FA5}">
                      <a16:colId xmlns:a16="http://schemas.microsoft.com/office/drawing/2014/main" val="1041822211"/>
                    </a:ext>
                  </a:extLst>
                </a:gridCol>
              </a:tblGrid>
              <a:tr h="9964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FIELD_NAMES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Data_Type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CONSTRAIN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DESCRIPTION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8020701"/>
                  </a:ext>
                </a:extLst>
              </a:tr>
              <a:tr h="9964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Ans_id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Primary Key, Auto Increment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Answert</a:t>
                      </a:r>
                      <a:r>
                        <a:rPr lang="en-IN" sz="3600" kern="100" dirty="0">
                          <a:effectLst/>
                        </a:rPr>
                        <a:t>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7917633"/>
                  </a:ext>
                </a:extLst>
              </a:tr>
              <a:tr h="10287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Not null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Student 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052542"/>
                  </a:ext>
                </a:extLst>
              </a:tr>
              <a:tr h="10287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Q_id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Foreign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Qusestion 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3184391"/>
                  </a:ext>
                </a:extLst>
              </a:tr>
              <a:tr h="9964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 err="1">
                          <a:effectLst/>
                        </a:rPr>
                        <a:t>Selected_Answer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Text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Not null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Submitted answer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6057752"/>
                  </a:ext>
                </a:extLst>
              </a:tr>
              <a:tr h="9964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2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Obtain_Mark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Obtain Mark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5510776"/>
                  </a:ext>
                </a:extLst>
              </a:tr>
              <a:tr h="99648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Test_id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Foreign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Test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9835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27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77F3-4777-8662-CAA0-A35D4E83A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30B75D-3843-30E4-4757-3944451B3D4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2B83CF-D264-0254-96E5-759EFB9923CF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E8AB3DB-4E2C-CE2B-4BFC-3A4CC4170174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9066D26-63AF-7F5C-713A-DDABA8F1F7BA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F71366B-3016-93C9-26B4-4A294A2B0546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290C347-2EB9-3867-86D5-B376B80A638F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3DF70-0931-878A-F76C-8E23C351701B}"/>
              </a:ext>
            </a:extLst>
          </p:cNvPr>
          <p:cNvSpPr txBox="1"/>
          <p:nvPr/>
        </p:nvSpPr>
        <p:spPr>
          <a:xfrm>
            <a:off x="1751168" y="1310488"/>
            <a:ext cx="3659031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Result:-</a:t>
            </a:r>
            <a:endParaRPr lang="en-IN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32150D-0F76-7834-08ED-C21B693D6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7955"/>
              </p:ext>
            </p:extLst>
          </p:nvPr>
        </p:nvGraphicFramePr>
        <p:xfrm>
          <a:off x="1600201" y="2820992"/>
          <a:ext cx="14630398" cy="6611926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655384">
                  <a:extLst>
                    <a:ext uri="{9D8B030D-6E8A-4147-A177-3AD203B41FA5}">
                      <a16:colId xmlns:a16="http://schemas.microsoft.com/office/drawing/2014/main" val="3744127894"/>
                    </a:ext>
                  </a:extLst>
                </a:gridCol>
                <a:gridCol w="3655384">
                  <a:extLst>
                    <a:ext uri="{9D8B030D-6E8A-4147-A177-3AD203B41FA5}">
                      <a16:colId xmlns:a16="http://schemas.microsoft.com/office/drawing/2014/main" val="2890644647"/>
                    </a:ext>
                  </a:extLst>
                </a:gridCol>
                <a:gridCol w="3659815">
                  <a:extLst>
                    <a:ext uri="{9D8B030D-6E8A-4147-A177-3AD203B41FA5}">
                      <a16:colId xmlns:a16="http://schemas.microsoft.com/office/drawing/2014/main" val="2545190254"/>
                    </a:ext>
                  </a:extLst>
                </a:gridCol>
                <a:gridCol w="3659815">
                  <a:extLst>
                    <a:ext uri="{9D8B030D-6E8A-4147-A177-3AD203B41FA5}">
                      <a16:colId xmlns:a16="http://schemas.microsoft.com/office/drawing/2014/main" val="1938381293"/>
                    </a:ext>
                  </a:extLst>
                </a:gridCol>
              </a:tblGrid>
              <a:tr h="900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FIELD_NAMES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Data_Type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CONSTRAIN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DESCRIPTION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8154040"/>
                  </a:ext>
                </a:extLst>
              </a:tr>
              <a:tr h="900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R_id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Primary Key, Auto Increment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Result 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1414226"/>
                  </a:ext>
                </a:extLst>
              </a:tr>
              <a:tr h="9300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S_id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Student 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9977265"/>
                  </a:ext>
                </a:extLst>
              </a:tr>
              <a:tr h="9300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Final_Marks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 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Final Marks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9167149"/>
                  </a:ext>
                </a:extLst>
              </a:tr>
              <a:tr h="900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Exam_Time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TIMESTAM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Not null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Exam Time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1516841"/>
                  </a:ext>
                </a:extLst>
              </a:tr>
              <a:tr h="900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Quiz_id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Foreign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Quiz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8281071"/>
                  </a:ext>
                </a:extLst>
              </a:tr>
              <a:tr h="900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Department_id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Foreign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Department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9692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996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3548-5463-8C9B-0520-61002B09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0D336C-7563-B1AF-9B23-35416F64ADD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264ED16-6789-8712-69E4-583DEA0965E0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654773A-BF3D-6026-E5FE-5B23DF51E3AD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DDC32A1-7EE3-5BEC-43A5-957A2A24BBDD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2E28D95-94DD-E711-6E0D-12DAEA82BC1B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B71278E-A7AF-E02E-2248-D2BABA3470CF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A8F80-EE31-AC9B-56BB-50076B0CBE94}"/>
              </a:ext>
            </a:extLst>
          </p:cNvPr>
          <p:cNvSpPr txBox="1"/>
          <p:nvPr/>
        </p:nvSpPr>
        <p:spPr>
          <a:xfrm>
            <a:off x="1752600" y="1141435"/>
            <a:ext cx="3659031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400" b="1" i="1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Quiz</a:t>
            </a:r>
            <a:r>
              <a:rPr lang="en-IN" sz="44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:-</a:t>
            </a:r>
            <a:endParaRPr lang="en-IN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5EF0D2-392B-6AF4-CF1D-21ADB9FF3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600888"/>
              </p:ext>
            </p:extLst>
          </p:nvPr>
        </p:nvGraphicFramePr>
        <p:xfrm>
          <a:off x="1437004" y="2367120"/>
          <a:ext cx="13421994" cy="3980784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354819">
                  <a:extLst>
                    <a:ext uri="{9D8B030D-6E8A-4147-A177-3AD203B41FA5}">
                      <a16:colId xmlns:a16="http://schemas.microsoft.com/office/drawing/2014/main" val="3973075146"/>
                    </a:ext>
                  </a:extLst>
                </a:gridCol>
                <a:gridCol w="3354819">
                  <a:extLst>
                    <a:ext uri="{9D8B030D-6E8A-4147-A177-3AD203B41FA5}">
                      <a16:colId xmlns:a16="http://schemas.microsoft.com/office/drawing/2014/main" val="3062098794"/>
                    </a:ext>
                  </a:extLst>
                </a:gridCol>
                <a:gridCol w="3356178">
                  <a:extLst>
                    <a:ext uri="{9D8B030D-6E8A-4147-A177-3AD203B41FA5}">
                      <a16:colId xmlns:a16="http://schemas.microsoft.com/office/drawing/2014/main" val="3029086069"/>
                    </a:ext>
                  </a:extLst>
                </a:gridCol>
                <a:gridCol w="3356178">
                  <a:extLst>
                    <a:ext uri="{9D8B030D-6E8A-4147-A177-3AD203B41FA5}">
                      <a16:colId xmlns:a16="http://schemas.microsoft.com/office/drawing/2014/main" val="2605521223"/>
                    </a:ext>
                  </a:extLst>
                </a:gridCol>
              </a:tblGrid>
              <a:tr h="13143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FIELD_NAMES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Data_Type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CONSTRAIN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DESCRIPTION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3769103"/>
                  </a:ext>
                </a:extLst>
              </a:tr>
              <a:tr h="13143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Quiz_id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Primary Key,Auto Increment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Quiz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8595436"/>
                  </a:ext>
                </a:extLst>
              </a:tr>
              <a:tr h="13521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Quiz_name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Not Null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Quiz Name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4045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229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8F48-6E22-153C-AB09-8A02CB78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28CED8-9EDE-960F-E9E0-052D764EC89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62142CA-3EE7-4246-15B0-7F05CDF8DE85}"/>
              </a:ext>
            </a:extLst>
          </p:cNvPr>
          <p:cNvSpPr/>
          <p:nvPr/>
        </p:nvSpPr>
        <p:spPr>
          <a:xfrm>
            <a:off x="16716592" y="9258300"/>
            <a:ext cx="1085415" cy="621647"/>
          </a:xfrm>
          <a:custGeom>
            <a:avLst/>
            <a:gdLst/>
            <a:ahLst/>
            <a:cxnLst/>
            <a:rect l="l" t="t" r="r" b="b"/>
            <a:pathLst>
              <a:path w="1085415" h="621647">
                <a:moveTo>
                  <a:pt x="0" y="0"/>
                </a:moveTo>
                <a:lnTo>
                  <a:pt x="1085416" y="0"/>
                </a:lnTo>
                <a:lnTo>
                  <a:pt x="1085416" y="621647"/>
                </a:lnTo>
                <a:lnTo>
                  <a:pt x="0" y="62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722FBF5-0CE3-07FC-B748-62E39541461B}"/>
              </a:ext>
            </a:extLst>
          </p:cNvPr>
          <p:cNvGrpSpPr/>
          <p:nvPr/>
        </p:nvGrpSpPr>
        <p:grpSpPr>
          <a:xfrm>
            <a:off x="7067296" y="318675"/>
            <a:ext cx="11162748" cy="1873313"/>
            <a:chOff x="0" y="0"/>
            <a:chExt cx="3909742" cy="656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FD145A0-F425-6662-10A0-7EFB6EB9606B}"/>
                </a:ext>
              </a:extLst>
            </p:cNvPr>
            <p:cNvSpPr/>
            <p:nvPr/>
          </p:nvSpPr>
          <p:spPr>
            <a:xfrm>
              <a:off x="0" y="0"/>
              <a:ext cx="3909754" cy="656126"/>
            </a:xfrm>
            <a:custGeom>
              <a:avLst/>
              <a:gdLst/>
              <a:ahLst/>
              <a:cxnLst/>
              <a:rect l="l" t="t" r="r" b="b"/>
              <a:pathLst>
                <a:path w="3909754" h="656126">
                  <a:moveTo>
                    <a:pt x="3574555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45887"/>
                  </a:cubicBezTo>
                  <a:cubicBezTo>
                    <a:pt x="0" y="331095"/>
                    <a:pt x="66279" y="426236"/>
                    <a:pt x="162037" y="470377"/>
                  </a:cubicBezTo>
                  <a:lnTo>
                    <a:pt x="162037" y="656126"/>
                  </a:lnTo>
                  <a:lnTo>
                    <a:pt x="353844" y="496658"/>
                  </a:lnTo>
                  <a:lnTo>
                    <a:pt x="3574555" y="496658"/>
                  </a:lnTo>
                  <a:cubicBezTo>
                    <a:pt x="3783305" y="496658"/>
                    <a:pt x="3909742" y="373146"/>
                    <a:pt x="3909742" y="245886"/>
                  </a:cubicBezTo>
                  <a:cubicBezTo>
                    <a:pt x="3909754" y="123512"/>
                    <a:pt x="3783305" y="0"/>
                    <a:pt x="357455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24B86"/>
              </a:solidFill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61A1369-7B4D-0555-24A9-F65D5431F8F3}"/>
                </a:ext>
              </a:extLst>
            </p:cNvPr>
            <p:cNvSpPr txBox="1"/>
            <p:nvPr/>
          </p:nvSpPr>
          <p:spPr>
            <a:xfrm>
              <a:off x="0" y="66675"/>
              <a:ext cx="3909742" cy="398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30005C53-1B52-AEE0-E6D9-426E2F8BB8C3}"/>
              </a:ext>
            </a:extLst>
          </p:cNvPr>
          <p:cNvSpPr txBox="1"/>
          <p:nvPr/>
        </p:nvSpPr>
        <p:spPr>
          <a:xfrm>
            <a:off x="5807641" y="325310"/>
            <a:ext cx="13682058" cy="1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3"/>
              </a:lnSpc>
              <a:spcBef>
                <a:spcPct val="0"/>
              </a:spcBef>
            </a:pPr>
            <a:r>
              <a:rPr lang="en-US" sz="8993">
                <a:solidFill>
                  <a:srgbClr val="224B86"/>
                </a:solidFill>
                <a:latin typeface="Jua"/>
                <a:ea typeface="Jua"/>
                <a:cs typeface="Jua"/>
                <a:sym typeface="Jua"/>
              </a:rPr>
              <a:t>Data Dicitionary:-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562ED-2C09-FA08-A48E-632A71BE58FD}"/>
              </a:ext>
            </a:extLst>
          </p:cNvPr>
          <p:cNvSpPr txBox="1"/>
          <p:nvPr/>
        </p:nvSpPr>
        <p:spPr>
          <a:xfrm>
            <a:off x="1752600" y="1141435"/>
            <a:ext cx="3659031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400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Registration:-</a:t>
            </a:r>
            <a:endParaRPr lang="en-IN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9BC6603-408E-5197-686F-4642A67DF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096034"/>
              </p:ext>
            </p:extLst>
          </p:nvPr>
        </p:nvGraphicFramePr>
        <p:xfrm>
          <a:off x="1437004" y="2367120"/>
          <a:ext cx="13421994" cy="6685136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354819">
                  <a:extLst>
                    <a:ext uri="{9D8B030D-6E8A-4147-A177-3AD203B41FA5}">
                      <a16:colId xmlns:a16="http://schemas.microsoft.com/office/drawing/2014/main" val="3973075146"/>
                    </a:ext>
                  </a:extLst>
                </a:gridCol>
                <a:gridCol w="3354819">
                  <a:extLst>
                    <a:ext uri="{9D8B030D-6E8A-4147-A177-3AD203B41FA5}">
                      <a16:colId xmlns:a16="http://schemas.microsoft.com/office/drawing/2014/main" val="3062098794"/>
                    </a:ext>
                  </a:extLst>
                </a:gridCol>
                <a:gridCol w="3356178">
                  <a:extLst>
                    <a:ext uri="{9D8B030D-6E8A-4147-A177-3AD203B41FA5}">
                      <a16:colId xmlns:a16="http://schemas.microsoft.com/office/drawing/2014/main" val="3029086069"/>
                    </a:ext>
                  </a:extLst>
                </a:gridCol>
                <a:gridCol w="3356178">
                  <a:extLst>
                    <a:ext uri="{9D8B030D-6E8A-4147-A177-3AD203B41FA5}">
                      <a16:colId xmlns:a16="http://schemas.microsoft.com/office/drawing/2014/main" val="2605521223"/>
                    </a:ext>
                  </a:extLst>
                </a:gridCol>
              </a:tblGrid>
              <a:tr h="13143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FIELD_NAMES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Data_Type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CONSTRAIN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DESCRIPTION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3769103"/>
                  </a:ext>
                </a:extLst>
              </a:tr>
              <a:tr h="131430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 err="1">
                          <a:effectLst/>
                        </a:rPr>
                        <a:t>R_id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Integer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Primary Key,Auto Increment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Test Id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8595436"/>
                  </a:ext>
                </a:extLst>
              </a:tr>
              <a:tr h="13521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SPID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>
                          <a:effectLst/>
                        </a:rPr>
                        <a:t>Foreign key</a:t>
                      </a:r>
                      <a:endParaRPr lang="en-IN" sz="3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Student id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4045934"/>
                  </a:ext>
                </a:extLst>
              </a:tr>
              <a:tr h="13521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kern="100" dirty="0">
                          <a:effectLst/>
                        </a:rPr>
                        <a:t>Not null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9958507"/>
                  </a:ext>
                </a:extLst>
              </a:tr>
              <a:tr h="13521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S_ID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</a:rPr>
                        <a:t>Integer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600" kern="100" dirty="0">
                          <a:effectLst/>
                        </a:rPr>
                        <a:t>Foreign key</a:t>
                      </a:r>
                      <a:endParaRPr lang="en-IN" sz="3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36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750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34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515</Words>
  <Application>Microsoft Office PowerPoint</Application>
  <PresentationFormat>Custom</PresentationFormat>
  <Paragraphs>262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Jua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Duias IT quiz app</dc:title>
  <cp:lastModifiedBy>DIVYA AHIR</cp:lastModifiedBy>
  <cp:revision>5</cp:revision>
  <dcterms:created xsi:type="dcterms:W3CDTF">2006-08-16T00:00:00Z</dcterms:created>
  <dcterms:modified xsi:type="dcterms:W3CDTF">2025-04-01T21:07:56Z</dcterms:modified>
  <dc:identifier>DAGi6-aqkv0</dc:identifier>
</cp:coreProperties>
</file>